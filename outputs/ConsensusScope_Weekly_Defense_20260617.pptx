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42773d8ade42a3" /><Relationship Type="http://schemas.openxmlformats.org/officeDocument/2006/relationships/extended-properties" Target="/docProps/app.xml" Id="R1631d670c9b54577" /><Relationship Type="http://schemas.openxmlformats.org/officeDocument/2006/relationships/officeDocument" Target="/ppt/presentation.xml" Id="R20514c7c2d1c45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af3a21d9884e21"/>
  </p:sldMasterIdLst>
  <p:notesMasterIdLst>
    <p:notesMasterId xmlns:r="http://schemas.openxmlformats.org/officeDocument/2006/relationships" r:id="Rcdb0b041405d4a75"/>
  </p:notesMasterIdLst>
  <p:sldIdLst>
    <p:sldId xmlns:r="http://schemas.openxmlformats.org/officeDocument/2006/relationships" id="256" r:id="R1bc1ff1f5fd64b3c"/>
    <p:sldId xmlns:r="http://schemas.openxmlformats.org/officeDocument/2006/relationships" id="257" r:id="R1428573c1fdb4e09"/>
    <p:sldId xmlns:r="http://schemas.openxmlformats.org/officeDocument/2006/relationships" id="258" r:id="R0efa13081e544fa6"/>
    <p:sldId xmlns:r="http://schemas.openxmlformats.org/officeDocument/2006/relationships" id="259" r:id="Ra51e928404d84f52"/>
    <p:sldId xmlns:r="http://schemas.openxmlformats.org/officeDocument/2006/relationships" id="260" r:id="R1a742fce026a45e5"/>
    <p:sldId xmlns:r="http://schemas.openxmlformats.org/officeDocument/2006/relationships" id="261" r:id="R1f326df38afa43d8"/>
    <p:sldId xmlns:r="http://schemas.openxmlformats.org/officeDocument/2006/relationships" id="262" r:id="Rf541c61ff1eb45c1"/>
    <p:sldId xmlns:r="http://schemas.openxmlformats.org/officeDocument/2006/relationships" id="263" r:id="R5eda44e18c9a44ac"/>
    <p:sldId xmlns:r="http://schemas.openxmlformats.org/officeDocument/2006/relationships" id="264" r:id="Rfd3689463fe74294"/>
    <p:sldId xmlns:r="http://schemas.openxmlformats.org/officeDocument/2006/relationships" id="265" r:id="R53a4b8269b434aa5"/>
    <p:sldId xmlns:r="http://schemas.openxmlformats.org/officeDocument/2006/relationships" id="266" r:id="R90e18d971b8145b4"/>
    <p:sldId xmlns:r="http://schemas.openxmlformats.org/officeDocument/2006/relationships" id="267" r:id="R1fd24319719e4c61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a56e7f434a488b" /><Relationship Type="http://schemas.openxmlformats.org/officeDocument/2006/relationships/slideMaster" Target="/ppt/slideMasters/slideMaster1.xml" Id="R97af3a21d9884e21" /><Relationship Type="http://schemas.openxmlformats.org/officeDocument/2006/relationships/notesMaster" Target="/ppt/notesMasters/notesMaster1.xml" Id="Rcdb0b041405d4a75" /><Relationship Type="http://schemas.openxmlformats.org/officeDocument/2006/relationships/presProps" Target="/ppt/presProps.xml" Id="Rbf0b1848cbb54b81" /><Relationship Type="http://schemas.openxmlformats.org/officeDocument/2006/relationships/tableStyles" Target="/ppt/tableStyles.xml" Id="R60fdadafe0f24d6d" /><Relationship Type="http://schemas.openxmlformats.org/officeDocument/2006/relationships/slide" Target="/ppt/slides/slide1.xml" Id="R1bc1ff1f5fd64b3c" /><Relationship Type="http://schemas.openxmlformats.org/officeDocument/2006/relationships/slide" Target="/ppt/slides/slide2.xml" Id="R1428573c1fdb4e09" /><Relationship Type="http://schemas.openxmlformats.org/officeDocument/2006/relationships/slide" Target="/ppt/slides/slide3.xml" Id="R0efa13081e544fa6" /><Relationship Type="http://schemas.openxmlformats.org/officeDocument/2006/relationships/slide" Target="/ppt/slides/slide4.xml" Id="Ra51e928404d84f52" /><Relationship Type="http://schemas.openxmlformats.org/officeDocument/2006/relationships/slide" Target="/ppt/slides/slide5.xml" Id="R1a742fce026a45e5" /><Relationship Type="http://schemas.openxmlformats.org/officeDocument/2006/relationships/slide" Target="/ppt/slides/slide6.xml" Id="R1f326df38afa43d8" /><Relationship Type="http://schemas.openxmlformats.org/officeDocument/2006/relationships/slide" Target="/ppt/slides/slide7.xml" Id="Rf541c61ff1eb45c1" /><Relationship Type="http://schemas.openxmlformats.org/officeDocument/2006/relationships/slide" Target="/ppt/slides/slide8.xml" Id="R5eda44e18c9a44ac" /><Relationship Type="http://schemas.openxmlformats.org/officeDocument/2006/relationships/slide" Target="/ppt/slides/slide9.xml" Id="Rfd3689463fe74294" /><Relationship Type="http://schemas.openxmlformats.org/officeDocument/2006/relationships/slide" Target="/ppt/slides/slide10.xml" Id="R53a4b8269b434aa5" /><Relationship Type="http://schemas.openxmlformats.org/officeDocument/2006/relationships/slide" Target="/ppt/slides/slide11.xml" Id="R90e18d971b8145b4" /><Relationship Type="http://schemas.openxmlformats.org/officeDocument/2006/relationships/slide" Target="/ppt/slides/slide12.xml" Id="R1fd24319719e4c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d180cc63f54a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6230ff3a6041f2" /><Relationship Type="http://schemas.openxmlformats.org/officeDocument/2006/relationships/notesMaster" Target="/ppt/notesMasters/notesMaster1.xml" Id="R371e0d82007048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d161228b074d2b" /><Relationship Type="http://schemas.openxmlformats.org/officeDocument/2006/relationships/notesMaster" Target="/ppt/notesMasters/notesMaster1.xml" Id="R1edabc9fe90b40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fd6431594c4dc6" /><Relationship Type="http://schemas.openxmlformats.org/officeDocument/2006/relationships/notesMaster" Target="/ppt/notesMasters/notesMaster1.xml" Id="Rae485657c2d745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617593df104783" /><Relationship Type="http://schemas.openxmlformats.org/officeDocument/2006/relationships/notesMaster" Target="/ppt/notesMasters/notesMaster1.xml" Id="R41fe7ef886e84c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85bc0f738948b9" /><Relationship Type="http://schemas.openxmlformats.org/officeDocument/2006/relationships/notesMaster" Target="/ppt/notesMasters/notesMaster1.xml" Id="Rae33b9224ceb42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867e77dd344294" /><Relationship Type="http://schemas.openxmlformats.org/officeDocument/2006/relationships/notesMaster" Target="/ppt/notesMasters/notesMaster1.xml" Id="Rd0de7cc4dd3e42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875020d1b44673" /><Relationship Type="http://schemas.openxmlformats.org/officeDocument/2006/relationships/notesMaster" Target="/ppt/notesMasters/notesMaster1.xml" Id="R9057f6b3c95b4c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877cf16e2547fa" /><Relationship Type="http://schemas.openxmlformats.org/officeDocument/2006/relationships/notesMaster" Target="/ppt/notesMasters/notesMaster1.xml" Id="Rf936a2e53b8e4c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f341956dc14cb7" /><Relationship Type="http://schemas.openxmlformats.org/officeDocument/2006/relationships/notesMaster" Target="/ppt/notesMasters/notesMaster1.xml" Id="R5b57b735be4a45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e1f063ec3540bc" /><Relationship Type="http://schemas.openxmlformats.org/officeDocument/2006/relationships/notesMaster" Target="/ppt/notesMasters/notesMaster1.xml" Id="Re5f78b6cd3124d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7afc3e2fd941b1" /><Relationship Type="http://schemas.openxmlformats.org/officeDocument/2006/relationships/notesMaster" Target="/ppt/notesMasters/notesMaster1.xml" Id="R5950fd127a4645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5f4701f2c84a68" /><Relationship Type="http://schemas.openxmlformats.org/officeDocument/2006/relationships/notesMaster" Target="/ppt/notesMasters/notesMaster1.xml" Id="R9dc8386bea8043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823d3cedf40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ee5ebaece046c8" /><Relationship Type="http://schemas.openxmlformats.org/officeDocument/2006/relationships/slideLayout" Target="/ppt/slideLayouts/slideLayout1.xml" Id="Rc81ec47bd76549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1ec47bd76549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5c845923d4658" /><Relationship Type="http://schemas.openxmlformats.org/officeDocument/2006/relationships/notesSlide" Target="/ppt/notesSlides/notesSlide1.xml" Id="R629649547a0246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48ea3d7484b41" /><Relationship Type="http://schemas.openxmlformats.org/officeDocument/2006/relationships/notesSlide" Target="/ppt/notesSlides/notesSlide2.xml" Id="R0205e662af0f45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fe5314a5b48b2" /><Relationship Type="http://schemas.openxmlformats.org/officeDocument/2006/relationships/notesSlide" Target="/ppt/notesSlides/notesSlide3.xml" Id="Rdc1771a9ab254e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49785a1094038" /><Relationship Type="http://schemas.openxmlformats.org/officeDocument/2006/relationships/notesSlide" Target="/ppt/notesSlides/notesSlide4.xml" Id="R051fb45ca4c24a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a560cd131486a" /><Relationship Type="http://schemas.openxmlformats.org/officeDocument/2006/relationships/image" Target="/ppt/media/image.png" Id="R07f053cdafdf453f" /><Relationship Type="http://schemas.openxmlformats.org/officeDocument/2006/relationships/image" Target="/ppt/media/image2.png" Id="R719f503f216a4770" /><Relationship Type="http://schemas.openxmlformats.org/officeDocument/2006/relationships/notesSlide" Target="/ppt/notesSlides/notesSlide5.xml" Id="R06faba28853749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2a2bddc3f403b" /><Relationship Type="http://schemas.openxmlformats.org/officeDocument/2006/relationships/notesSlide" Target="/ppt/notesSlides/notesSlide6.xml" Id="Rb8aabd0511d04a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c4793f86f488e" /><Relationship Type="http://schemas.openxmlformats.org/officeDocument/2006/relationships/notesSlide" Target="/ppt/notesSlides/notesSlide7.xml" Id="R14b58276b77549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46aa204064acd" /><Relationship Type="http://schemas.openxmlformats.org/officeDocument/2006/relationships/notesSlide" Target="/ppt/notesSlides/notesSlide8.xml" Id="R87417eac654240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2224105db4028" /><Relationship Type="http://schemas.openxmlformats.org/officeDocument/2006/relationships/image" Target="/ppt/media/image3.png" Id="Rfec9672cb14747c4" /><Relationship Type="http://schemas.openxmlformats.org/officeDocument/2006/relationships/image" Target="/ppt/media/image4.png" Id="R41c330f1c7974248" /><Relationship Type="http://schemas.openxmlformats.org/officeDocument/2006/relationships/notesSlide" Target="/ppt/notesSlides/notesSlide9.xml" Id="R74d827f365894f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3f99641864540" /><Relationship Type="http://schemas.openxmlformats.org/officeDocument/2006/relationships/notesSlide" Target="/ppt/notesSlides/notesSlide10.xml" Id="R192b991c8bda42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779b873ef4034" /><Relationship Type="http://schemas.openxmlformats.org/officeDocument/2006/relationships/notesSlide" Target="/ppt/notesSlides/notesSlide11.xml" Id="R0e15af41110344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b120034294202" /><Relationship Type="http://schemas.openxmlformats.org/officeDocument/2006/relationships/notesSlide" Target="/ppt/notesSlides/notesSlide12.xml" Id="Rbb2cf2ed82fc4e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6F9725-7BC9-4D64-8B6F-C3940DCB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6CD3D-633D-4AAD-B9A9-95F10A9A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477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ConsensusScope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0B843-F777-42E6-BA2F-C603B7E6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00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FFAFE"/>
                </a:solidFill>
                <a:latin typeface="PingFang SC"/>
                <a:ea typeface="PingFang SC"/>
                <a:cs typeface="PingFang SC"/>
              </a:defRPr>
            </a:pPr>
            <a:r>
              <a:t>本周成果答辩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0F8EB-5DD2-4035-8CD2-3C92F30C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2E8F0"/>
                </a:solidFill>
                <a:latin typeface="PingFang SC"/>
                <a:ea typeface="PingFang SC"/>
                <a:cs typeface="PingFang SC"/>
              </a:defRPr>
            </a:pPr>
            <a:r>
              <a:t>从多模型裁决原型，升级为面向英语二语写作反馈的教师在环审核系统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97FB0-1D2F-49FC-AEEA-2BCDDCED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676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64E63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B6D4"/>
                </a:solidFill>
                <a:latin typeface="PingFang SC"/>
                <a:ea typeface="PingFang SC"/>
                <a:cs typeface="PingFang SC"/>
              </a:defRPr>
            </a:pPr>
            <a:r>
              <a:t>Teacher-in-loop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5457D-1A21-4191-8862-DA3B1E90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676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t>Feedback Safety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5AD32-C989-4864-8F35-C00E1EFD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1676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t>Backend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7FCA6-E028-4590-93EE-C6DAFA79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066800"/>
            <a:ext cx="8001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本周新增：后端与稳定部署、教师 Likert 标注、实证诊断、论文同步、Figma 设计方向稿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42E0C-204D-4C4B-B09C-A197DF0E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81250"/>
            <a:ext cx="7429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3C255-DF3E-4ED9-BEE2-044ABB38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8125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90BC9-9984-45A6-86CB-D78BFD28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09850"/>
            <a:ext cx="6972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汇报主线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90A8C-9A0F-47FE-B261-B5F8A769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28950"/>
            <a:ext cx="69723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老师指出 NLP demo 要体现真实应用价值。本周将项目包装为“AI 写作反馈进入学生前的安全审核与教师复核工具”。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32D135-FDAD-4264-B9D1-322522B6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48125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46C2C-7645-41E8-90C4-C14C8351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4812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67D6C-56A8-4D34-994A-850EDA69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76725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线上系统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ED7E3-53A3-4605-A4DA-58B47920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95825"/>
            <a:ext cx="2971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前端：demo.consensusscope.cn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API：api.consensusscope.cn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5ECF0-72D9-43BE-B7BE-CFC546C7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48125"/>
            <a:ext cx="3429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A4CE2-EAE8-4C25-B4A3-1DB2FA18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48125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003C3E-EEA0-482C-92E1-309951F4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76725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当前证据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DD9AB-F476-4E31-8A7B-5229DA47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95825"/>
            <a:ext cx="2971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2 位教师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30 条有效反馈项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60 行 Likert 评分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75902-C3FA-4ABD-91D1-FF6653A3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962650"/>
            <a:ext cx="7429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512708-0459-4BFD-A2D3-A77ECFD3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9626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2B195-5DC3-43B7-A23B-9CAE0E80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191250"/>
            <a:ext cx="6972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组会定位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72BE8-CAF2-4C88-BCCF-F0E38CA3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610350"/>
            <a:ext cx="6972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不是宣称模型已经完全成熟，而是展示：应用场景更清晰、系统闭环更完整、后续实验路径更可执行。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B116B3-800D-4C13-9C04-17133CB0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76200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You Tingrui｜Beijing Language and Culture University</a:t>
            </a:r>
          </a:p>
        </p:txBody>
      </p:sp>
    </p:spTree>
    <p:extLst>
      <p:ext uri="{BB962C8B-B14F-4D97-AF65-F5344CB8AC3E}">
        <p14:creationId xmlns:p14="http://schemas.microsoft.com/office/powerpoint/2010/main" val="1131010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084386-682E-4E8F-B58C-68E006CE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01 研究定位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34BC0-4E47-4D9D-98CC-4EEB237B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方向调整：从“多模型裁决”走向“教师可用的反馈审核”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1A405-0B6C-4472-A1F7-8C71B9E4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本周最大的变化不是换界面，而是重写系统叙事和真实任务入口。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93282-4E83-4C6B-939D-F927458A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66103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3E2D7-5E6E-4541-8FF9-01F371BA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47900"/>
            <a:ext cx="66103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7CE66-379A-418B-9FE3-4A6912FD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607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t>上一版问题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E07EF-B520-41D7-BC35-41810A38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59626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多模型一致性/裁决本身较抽象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容易被问：真实用户是谁？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Streamlit Cloud 不稳定，像纯演示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缺少人工标注闭环与后端存储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6E462-876A-43FF-9D27-0F446B20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76500"/>
            <a:ext cx="6076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本周新版定位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44DE1-94A5-4772-9E89-383EC0ED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71800"/>
            <a:ext cx="59626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英语二语写作反馈进入学生前的安全审核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用户明确：教师、教育 NLP 开发者、AI 写作平台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保留多模型与风险路由，但服务于教师复核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形成前端、后端、标注、论文四条线闭环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73913F-BA57-4AD6-9924-A177D96D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7246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新的核心问题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701D6-78CB-4CAA-839C-FC0CADB4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6667500"/>
            <a:ext cx="857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这条 AI 反馈能否直接给学生，还是必须先由教师复核？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8DFE2-5DCF-4CFF-AEEF-69581A40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ConsensusScope｜本周成果汇报｜2026-06-17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323FA-AF7D-4162-A41D-6DB50EA4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1337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49470B-6C00-446B-B5F5-07E06E8F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02 Work Done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DBAE1-C963-4D0B-A3F4-305FDCD7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本周完成概览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131E5-F7D9-4B2B-9FCB-F3A49153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把“可以讲清楚”推进到“可以打开、可以标注、可以复核、可以写进论文”。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3A3A6-1AE1-4A00-9151-1850CA5F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30003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81A99-63D5-4B53-85C2-5C1709E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505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50589-508F-44AE-840E-1C23F1C9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2466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稳定部署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7B095-ADCE-4869-933D-2E11C743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2466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腾讯云 + Cloudflare 域名，前后端分离运行。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65061-3401-4BC1-A0C3-93683B15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286000"/>
            <a:ext cx="30003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80274-4729-4405-A03C-63A558BC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76500"/>
            <a:ext cx="2505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6B6D4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99224-E73B-48EC-A1B9-0526181E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048000"/>
            <a:ext cx="2466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FastAPI 后端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D921E-9B7B-4073-9D5D-F295AD6C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90900"/>
            <a:ext cx="2466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会话、教师决策、审计日志、报告导出接口。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F88D9-8F07-467C-B8F4-6CBD97A7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86000"/>
            <a:ext cx="30003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98A9E-6C62-4EEB-A3C6-D10A6568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76500"/>
            <a:ext cx="2505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94897-193A-4A84-93DC-4345EEA7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2466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教师试标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D422B-649C-42E6-9326-161DC50F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90900"/>
            <a:ext cx="2466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两位教师完成 1–5 分 Likert 诊断数据。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61A79A-4114-4511-811F-6E8F7F71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2286000"/>
            <a:ext cx="3000375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987EC8-2C0A-4396-B3C9-6A89D43C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476500"/>
            <a:ext cx="2505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t>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0D8B1-D504-48B0-913D-60461E5A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3048000"/>
            <a:ext cx="24669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有效反馈项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F2738-9774-48F2-976A-22023C82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3390900"/>
            <a:ext cx="2466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两批教师试标合并：12 + 18。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750E4-E9A5-45AB-9A60-E7BEA674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4095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721571-7E00-4DB3-A1EA-D1D537E5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A5D04B-0A69-4377-B16D-5C9D61A3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00600"/>
            <a:ext cx="3638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AI 评审闭环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9BF827-30B7-4B6C-A01B-F6336A51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36385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作文输入 → AI 反馈项 → 风险信号 → auto-accept / teacher-review → 教师决策 → 报告导出。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D602A-3EE9-4D89-9141-D409BA86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72000"/>
            <a:ext cx="4095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2594C1-44F9-4A36-95D2-B8BABFA9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72000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A03BF8-D882-415D-BAF5-CAC68C5F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00600"/>
            <a:ext cx="3638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论文同步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C3183C-4903-456C-AA53-DF969FDF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19700"/>
            <a:ext cx="36385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论文主张改为 Feedback Safety Graph + teacher-in-the-loop routing，弱化不可验证的模型性能话术。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4C5B3D-833C-41D6-8D69-E108E4BD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572000"/>
            <a:ext cx="4095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5CF7B2-3A29-47E4-923C-CB30FB2A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572000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C60788-381D-4D4E-8A95-A9FEBAC1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800600"/>
            <a:ext cx="3638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UI 设计方向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C3D6C9-035B-4E9D-90CA-11B58BB6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219700"/>
            <a:ext cx="36385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Figma 半成品已验证可作为设计师参考；下一步拆成组件和高保真页面。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7A03F4-37CD-4F4A-86F3-ADC8DF76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877050"/>
            <a:ext cx="1171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本周成果可以支撑组会结论：项目已从“demo 原型”进入“应用系统 + 诊断实验 + 投稿材料”阶段。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1DE2CE-3EB1-413F-B3F3-47C4FA04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ConsensusScope｜本周成果汇报｜2026-06-17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FD8F21-1AE4-466B-AC7B-77EBC00F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70674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6DEAF4-73F5-49AC-B716-B3F034DE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03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D3BED-A895-4541-BA9E-759F61F6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系统架构：前端展示不再等于全部系统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E3982-4BC3-41DE-9F03-26F0C796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新增后端后，demo 可以保存会话、记录教师决策、导出报告，并留下审计路径。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A4151-11DF-411E-968C-E06FBB1D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428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BBA2D-DA5B-4828-805D-8879654A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28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8586B-5DEC-4C6D-890F-7EDD0059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28900"/>
            <a:ext cx="1304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教师/研究者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CD6D6-CEEB-41FF-802D-6095F9E8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1304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上传匿名作文或进入示例批次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C228F-62FC-4CBD-BC9A-59D3126B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81250"/>
            <a:ext cx="2428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20EC4-D6B5-44BB-92D0-C7143F0E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28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29DE0-FD87-4A4B-AF76-35290975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28900"/>
            <a:ext cx="1304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多模型反馈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73B9E-3FB2-44EC-8680-3EED76B0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71800"/>
            <a:ext cx="1304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生成或读取统一格式 feedback items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86B32-1641-437B-90AA-174DEF66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2428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31CFF-C962-4C23-9BE5-C24B2B83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28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B2E60-08D7-431A-9232-BEEEB549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28900"/>
            <a:ext cx="1304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Safety Graph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AC756-5DA8-4989-8B1E-CF0277F8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71800"/>
            <a:ext cx="1304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用部署时可见信号判断风险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5A7F0-8317-4645-9C30-2293868F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2428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F1748-D5B5-4805-BE76-85BAA0C9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52047F-472F-44AD-8DB9-906C93AA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628900"/>
            <a:ext cx="1304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教师复核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76BCF6-5604-407B-82F7-E6EA3F0F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971800"/>
            <a:ext cx="1304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保留、修改、拒绝或导出报告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600088-FF3E-4EC0-938E-023F0FE8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86200"/>
            <a:ext cx="-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7C6676-9177-47A9-889E-E7489EFD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838950"/>
            <a:ext cx="-3448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86556-506A-4FE8-8936-DC24DBFE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9791700"/>
            <a:ext cx="-6400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39FE6-6608-4659-94E7-AF7D2178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86300"/>
            <a:ext cx="118110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ED3D45-E396-4B82-AD51-9C891705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720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FastAPI Backend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0245BA-42DD-4D38-B234-9753727D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054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review/single  ·  review/batch  ·  sessions  ·  teacher/decision  ·  export/report  ·  audit/logs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091547-6297-4155-96F9-02F3FBC2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62650"/>
            <a:ext cx="981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SQLite 持久化存储会话、反馈项、教师决策与审计日志；API key 不进入后端数据库。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2163BA-C087-4682-AA99-75188DF9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705600"/>
            <a:ext cx="1676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Frontend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8A2659-C26D-41E9-9846-E711D35F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705600"/>
            <a:ext cx="1676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B6D4"/>
                </a:solidFill>
                <a:latin typeface="PingFang SC"/>
                <a:ea typeface="PingFang SC"/>
                <a:cs typeface="PingFang SC"/>
              </a:defRPr>
            </a:pPr>
            <a:r>
              <a:t>Backend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164012-09B8-43FE-BF97-03AC8D73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705600"/>
            <a:ext cx="1676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t>Audit Trail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00A29C-F12D-4BC2-BD90-F685E671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705600"/>
            <a:ext cx="1676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t>Report Export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74F47C-A114-45A9-B982-2175FF16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ConsensusScope｜本周成果汇报｜2026-06-17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1C56D9-38C8-4793-B2B4-6E55870F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94216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6F87CC-F0B2-4D64-8FCE-230FA6B2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04 Demo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37269-41BE-4CD8-B6AE-A7A4E167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主 Demo 工作流：教师先看到风险分流，而不是被 AI 替代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340F1-7D92-452C-BD5D-26620EA7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系统让教师快速定位“可以直接放行”和“必须人工判断”的反馈。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92571-C73B-4EB0-9817-D604565F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66865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053cdafdf453f"/>
          <a:srcRect xmlns:a="http://schemas.openxmlformats.org/drawingml/2006/main" l="0" t="13004" r="0" b="130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2190750"/>
            <a:ext cx="6572250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33F66-94C9-4959-93D1-6B301E8E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Review Workspace：作文与反馈批次入口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EF35E-9DAC-4CC5-8677-B47BDE2B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33600"/>
            <a:ext cx="6686550" cy="38290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f503f216a4770"/>
          <a:srcRect xmlns:a="http://schemas.openxmlformats.org/drawingml/2006/main" l="0" t="23049" r="0" b="230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190750"/>
            <a:ext cx="6572250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3441E-A457-4F74-B5DA-F6F242EE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00750"/>
            <a:ext cx="657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Teacher Queue：按风险优先级组织待复核反馈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64B42-B8F5-4478-A343-37D5CE57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553200"/>
            <a:ext cx="4000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DCBF7-2146-42DC-9E52-FD57A527A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5532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70B3B-3013-4FC8-B069-DFD73AB9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7818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教师视角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57729-03FF-49C4-BA76-EA797C0C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7200900"/>
            <a:ext cx="3543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关心的是“哪些反馈需要我看”，不是模型分数本身。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45605-17FF-4B9F-8F8A-18B7E479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4000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84393-BD80-471D-829A-02AF6197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5532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758DE-E308-4C37-BA5C-91C67729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7818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AI 评审视角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1AC847-92B3-48E3-B28D-AE6FE748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7200900"/>
            <a:ext cx="3543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把模型输出转成结构化 feedback item，并解释风险来源。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FAFC5-2CDF-486B-BFA9-E1073A62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553200"/>
            <a:ext cx="4000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B37B1-F713-4C94-9F1E-D35919B8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5532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AA5BB3-A0F0-4DE0-83A2-86657445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7818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投稿视角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2D8B3-B5C4-4CDA-B0E2-60CF0515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200900"/>
            <a:ext cx="3543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这是可交互系统 demo，而不是离线表格结果。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CD4ED-629F-45BE-B2C9-181F961B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ConsensusScope｜本周成果汇报｜2026-06-17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9ECC1C-BA4D-40D9-8AF8-C9922F70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828380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72DB71-1371-4E72-984C-2E027148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05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0B7D6-F05C-4783-B881-0ACE8ECC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部署对比：从 Streamlit Cloud 不稳定到可控前后端服务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A1988-CFA6-43CC-BC52-89297804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这页用于回答：为什么老师会问“demo 为什么没有后端”。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BFC8E-A0FA-4480-8922-D7829788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6572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6639C-8B26-41BC-98EE-3642B9F0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71700"/>
            <a:ext cx="6572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81E24-4960-4580-94B3-D3464033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6038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t>原部署风险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99F9D-AC54-4B7B-AD53-09FF7772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59245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Streamlit Cloud 常见 in the oven / 冷启动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无法稳定展示后端能力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数据存储和审计边界不清楚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不适合正式录屏和外部老师试用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FAFFD-AA25-4AD4-BD53-4E576C59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00300"/>
            <a:ext cx="6038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当前部署方案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EFE15-15A2-4554-920B-88A5978A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95600"/>
            <a:ext cx="59245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前端域名：https://demo.consensusscope.cn/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后端文档：https://api.consensusscope.cn/docs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FastAPI + SQLite 持久化 + audit logs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Cloudflare Tunnel 对外暴露，服务器端口不写入 PPT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D4345-03B0-4A87-8EB7-DB8767E7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81700"/>
            <a:ext cx="12230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68270-1022-449B-B67E-9816319F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293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现阶段判断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39B26-2779-4A6B-B872-F7FFD82E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19125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已经具备“可以公开访问、可以解释架构、可以录屏”的基础；后续要继续补鉴权、真实教师批量使用和监控。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7A77BB-43AD-49F5-872D-120EE603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ConsensusScope｜本周成果汇报｜2026-06-17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08E8E-D865-492C-80B8-B40E907A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30153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C4B9E0-1914-49AF-96C5-55B9C865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06 Annotation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1E030-7F58-4DBA-81FE-81F0FDCE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教师标注：从主观怀疑走向可诊断数据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C230B-4310-48FE-805D-AEB0FA2E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当前不是大规模用户研究，而是用两位教师的 Likert 评分先检查 AI 评审是否合理。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0470D-2CF1-4C13-A6AD-0201DB5D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9F717-0C4C-4D89-9942-C5671EF6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C63837-0097-4A81-8DA1-0F568FBC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2895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教师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2A649-408A-4299-99AC-18C824E0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最多两位，符合当前可获得资源。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94AEB-CAF4-433F-BFC0-133F02AD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6695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024B1-D734-42E2-8DE3-859E5F57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5745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t>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29A0D-A07F-46A1-9E17-C2DCC68F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反馈项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92513-95F2-4BD5-A7AD-1A50E131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batch 1 为 12 条，batch 2 为 18 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72864-4275-48ED-B38F-3637E253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E628B-0BE9-41FB-A484-9B74653C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t>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C8A89-64B0-442F-A80C-4167E3CD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评分行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222FD-4787-41EB-BD9B-C2265DE6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718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每条由两位教师给 1–5 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B72CE-4E28-4AE2-A048-F9EC21ED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66950"/>
            <a:ext cx="2857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850325-7C6B-420C-9B55-980EA8EF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457450"/>
            <a:ext cx="2362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6B6D4"/>
                </a:solidFill>
                <a:latin typeface="PingFang SC"/>
                <a:ea typeface="PingFang SC"/>
                <a:cs typeface="PingFang SC"/>
              </a:defRPr>
            </a:pPr>
            <a: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489680-44A9-4917-90F7-82918971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2895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评分维度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3D3A5-451A-40A2-A89B-5A880E36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718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正确性、保义、可给学生等。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DAB28-B71A-4CF2-8DC4-3609E43A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13335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0B2AC-0638-4E0D-8273-79F90904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标注设计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63A027-9576-45B7-A7EB-A81F43E6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62550"/>
            <a:ext cx="1123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盲标优先：教师不看系统 risk_level、模型名、推荐动作，只看匿名作文片段与 AI 反馈。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4D6EAE-ABE1-4711-8E58-465626B6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19750"/>
            <a:ext cx="1123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评分字段简化为 1–5 分：正确性、保留原意、学生可读性、有用性、清晰度、是否可直接发布。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3580ED-E0EA-4435-8BF8-1DEE7532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019800"/>
            <a:ext cx="1123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用途边界：这些标签只用于离线诊断，不在部署时直接喂给路由器。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6938E0-A225-448C-8F88-34317483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972300"/>
            <a:ext cx="1123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组会要强调：当前数据少，但它已经暴露了系统最需要改进的样本类型。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E92BF3-7AB7-4013-9E2C-426AAD4C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ConsensusScope｜本周成果汇报｜2026-06-17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478A54-79ED-4E42-BC15-33328B88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471527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874AC9-C2AE-4EB9-87CE-4170D5D5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07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1431D-E390-46C7-B8DB-A00EE749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有效性快照：路由有信号，但还不能夸大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145E6-46C7-408F-969B-A31D672B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30 条两位教师诊断显示：教师复核队列确实包含更多低分/高风险反馈。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7A43D-749D-42E9-AA44-E6D63AB9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62865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14E33-6BC2-4D4D-AA8E-A4842E3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路由分组平均分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E94E0-C7FF-4F5C-B168-82B3630E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Auto-accept 组平均分更高；teacher-review 组平均分更低，说明风险分流方向基本合理。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7C323-9F8B-4FF0-AD81-A0FB3ECC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147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Correctness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77A4B-765E-4BDE-A10C-7D22DE2B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auto_accept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29643-26B2-4FCD-A250-680EAC61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52900"/>
            <a:ext cx="2190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18C513-C58F-4A2E-A6CA-D06E168C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52900"/>
            <a:ext cx="2096854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468CB-469F-4DD1-A742-B73B3D11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05275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t>4.79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358D2-330F-438D-A62D-8D3FB18D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148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teacher_review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A16FAD-D9B6-4DC6-8370-D87CBB90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52950"/>
            <a:ext cx="2190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B7A0C-BAF9-4122-96B8-2BF1CCC5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52950"/>
            <a:ext cx="1000121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1FCD5-6296-4388-A19B-274158E3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05325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t>2.28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216FA-548C-49F2-870F-D44EA4F9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43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Direct release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18160-9B8D-4D94-B4E2-DF5DEBE3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435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auto_accept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04302-37CD-4F3A-AD48-8DB37558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81650"/>
            <a:ext cx="2190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F8025-2EFE-4EE1-B8E4-CB27E971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81650"/>
            <a:ext cx="2002959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32686-6650-4D98-BFCE-64908208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34025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t>4.57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F0189C-9684-4504-A211-B06D708E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436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teacher_review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9F15AD-0B1D-45E0-8CB3-56C6F4F9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981700"/>
            <a:ext cx="21907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49682B-6F24-4E55-9C12-E2C8B970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981700"/>
            <a:ext cx="971554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2FAA8E-1B99-4EE1-A413-CCADAC10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934075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t>2.22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6CE573-F492-431F-BB26-5DA78575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71700"/>
            <a:ext cx="64389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6A0C71-C6CE-42C3-9596-FA205C44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诊断指标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04D49E-7086-4C2C-9680-32BCF7D5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2CF8A3-3839-48A3-A1D2-4FB531F5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0400"/>
            <a:ext cx="198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0.95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E9381D-E949-48C4-93FE-F9042042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7190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Review-needed recall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9B8277-DF94-4F9E-89B0-F862C3EB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1480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任一教师认为需复核的样本中，路由命中的比例。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AAE0D7-12D5-4081-BAB3-E36AEFB9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009900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1DFF2F-78E4-4493-B224-28E0FD05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3200400"/>
            <a:ext cx="198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C2626"/>
                </a:solidFill>
                <a:latin typeface="PingFang SC"/>
                <a:ea typeface="PingFang SC"/>
                <a:cs typeface="PingFang SC"/>
              </a:defRPr>
            </a:pPr>
            <a:r>
              <a:t>1.00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23C501-B8F8-47A2-9263-97FB6B97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77190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Unsafe reviewed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37CCD9-3FB0-4DB4-A6FE-44A191CD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11480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任一教师认为不安全的样本中，被送入复核的比例。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1115C5-E88A-48A4-9400-B8B812C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5A5E30-216B-427F-8688-47D04569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198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t>0.86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72828B-1EC3-4176-88B2-148C5003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52450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Auto precision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B777A0-1523-4EE8-897B-DD534736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86740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auto_accept 与教师安全标签对齐情况。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458339-0234-4BC9-84EA-97372C04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762500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88AECD-C62B-4D6A-AC3D-63C75FC6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953000"/>
            <a:ext cx="198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59669"/>
                </a:solidFill>
                <a:latin typeface="PingFang SC"/>
                <a:ea typeface="PingFang SC"/>
                <a:cs typeface="PingFang SC"/>
              </a:defRPr>
            </a:pPr>
            <a:r>
              <a:t>0.69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0BC5F3-400F-4ACE-9823-6CE00AC6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52450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Within 1 point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76BC43-E2B7-4008-9C82-E26126BC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86740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六维评分两位教师一分内一致率。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AA95AF-45F3-43B4-8C6A-C81465D9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200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结论：当前最强卖点不是“模型已经赢了”，而是能把风险样本显式暴露给教师，并提供可审计的改进闭环。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E6E9CD-6E0B-49B8-8557-C62DDFE0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ConsensusScope｜本周成果汇报｜2026-06-17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E7597E-E507-45CF-97A5-2A3E2925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003593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EDB060-5169-4705-BE9A-231D5E99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08 UI Direction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56C52-CE80-4D7F-9163-9482DB99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UI 设计进展：把 Figma 半成品纳入本周成果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37194-2BE4-4ACF-B194-4A00DE8E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目前网站仍是工程可用版；Figma 用来给设计师定义视觉方向和页面密度。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3A41F-5488-48E5-8244-ED357760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62103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9672cb14747c4"/>
          <a:srcRect xmlns:a="http://schemas.openxmlformats.org/drawingml/2006/main" l="0" t="13182" r="0" b="131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247900"/>
            <a:ext cx="60960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156C6-8277-4E6B-A4E0-14E6CD9D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当前工程版：功能完整，但视觉偏工具原型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EF5FB-1D69-4DDF-B9DB-2DE53D7B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79095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330f1c7974248"/>
          <a:srcRect xmlns:a="http://schemas.openxmlformats.org/drawingml/2006/main" l="1482" t="0" r="14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67700" y="2247900"/>
            <a:ext cx="3676650" cy="3429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EC929-DEAE-4F02-8721-EEC5019D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772150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Figma 方向稿：更强的仪表盘层级与视觉聚焦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93DCD-6AEE-4EF5-B6A5-C461CDF8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47900"/>
            <a:ext cx="1924050" cy="34290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4600F-8DEF-4445-922A-6C1115A9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5336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可交付给设计师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9112A-5C87-400B-B7E7-45DBE2D5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3086100"/>
            <a:ext cx="1428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1. 首页信息架构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2. 教师队列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3. Feedback detail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4. 风险图谱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5. 报告导出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6. 组件规范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CAE30-A882-4A84-A2BC-FB3AD5EE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19800"/>
            <a:ext cx="629602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982D2-A08D-4DFF-AB6E-D204B093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6019800"/>
            <a:ext cx="6296025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E44F1-4B97-40B6-B2F9-BF511FDF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48400"/>
            <a:ext cx="576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t>不能直接做的事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E2395-99A3-449E-ADAE-B81CA23A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743700"/>
            <a:ext cx="564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F7ED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不能把 .fig 嵌进 Streamlit 当交互网页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不能只靠 AI UI 参会，需要人工设计落地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EF395-938E-4425-A105-A449B855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248400"/>
            <a:ext cx="576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可以马上推进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39C57-5EAF-4D18-90FE-479A1A68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6743700"/>
            <a:ext cx="5648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把 Figma 页面拆成组件和状态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• 按后端接口重写高保真前端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E7EF4-B393-4CE1-BA6D-E99D6172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ConsensusScope｜本周成果汇报｜2026-06-17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264ED3-798E-468A-8FAE-04124F2B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760298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00AD3B-1858-4781-A2B0-C42753C6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09 Paper &amp; Repo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5EE85-0328-4E5D-995F-E8081AED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论文与代码包同步：主张更稳，系统性更强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B3B1C-E85C-4E87-82AE-5ADB2C1B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本周论文口径跟系统同步，避免 learned meta-judge 或大而空的性能主张。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8114B-BD72-440A-827A-E47F7710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61912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CBA2A-714A-4F53-A8AF-617F345D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76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8726E-21A6-4B25-BEEA-1A8E7D0D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573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当前标题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122BF-F730-4FD3-BCC9-808BCACF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76550"/>
            <a:ext cx="5734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ConsensusScope: Feedback Safety Graphs for Teacher-in-the-Loop Review Routing of AI Feedback on ESL Writing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E0C0F-A444-4B2E-A105-3BEF706E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52387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23AAD-7EB4-4CBA-AD76-8BDA8FF6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76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C8BE6-0EF8-44CD-8B4E-6E1A696D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57450"/>
            <a:ext cx="478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当前主张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D2317-049C-45C2-9DEF-674E8708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4781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Feedback Safety Graph + 教师在环复核路由 + ESL 写作反馈安全审核。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8E203-4046-4B98-9390-72CEC830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38481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7082D-36F0-46DF-880A-6A2D4BD9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0A5EE-C035-4D77-BC6C-D3F911E8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论文新增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EAA8D-9E7B-4ED8-9D00-6DDCAF0A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3390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Backend API 段落、Release 信息、教师试标诊断、应用场景边界。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9EF99-D046-4D17-AC73-695008C2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00550"/>
            <a:ext cx="38481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3D550-2A0C-40A8-B4DC-AEEE43EC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005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0D476-0D82-4F54-9B26-7B2632BD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29150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代码新增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11DCE9-E86B-4068-BFE5-90B949D1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048250"/>
            <a:ext cx="3390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FastAPI backend、SQLite 存储、测试、部署配置、诊断面板。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7C36CA-681F-4F26-8D72-612122A8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00550"/>
            <a:ext cx="38481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160B23-E3CB-40D9-8898-B5FEB916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005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F42DC8-9475-4E47-ADE5-C192A400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29150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避免风险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871521-7A5D-40A6-B925-E7EA49D3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048250"/>
            <a:ext cx="3390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不写 learned meta-judge 主张；不伪造视频链接；不夸大 30 条标注。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8F149F-0244-4A95-B5BB-191EF0EC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686550"/>
            <a:ext cx="1123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Git 状态：最新主线提交已推送，提交信息为 Add FastAPI backend for demo deployment。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6C9499-3C4B-4204-8869-19A26022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ConsensusScope｜本周成果汇报｜2026-06-17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9DB77F-EF6F-4496-BA83-32F92FDB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149163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F77A8B-AF75-4DFF-B8E8-48DDF33D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10 Gaps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D8123-5B55-4246-844C-34684109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目前仍需补强的部分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A958D-2990-4AD0-A38D-D48B6FEC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这一页建议组会上主动讲，显得我们清楚项目风险，而不是被动挨问。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CC282-DB2A-4294-919E-BEF5FBAA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4000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9266C-D900-4E69-8BE7-9EE568A2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A6EE0-D959-4318-AA1C-DBF3084B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数据规模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5A134-5175-4D70-85B2-170D74D5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30 条教师标注已有雏形，下一步需要扩到 50–80 条并覆盖更多真实作文。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4E18F-3A98-40E2-AF0B-A1963378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4000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9E3AD-6491-4FE0-91D0-ED1C9ECC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32FD3-E8BD-4AE1-9C9F-DB39A475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765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真实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971A1-28C6-4D98-806B-5D2BF6E2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9560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当前工程界面能用，但还没达到人工设计水准。Figma 方向稿需要设计师重做。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8244A-D312-4C52-9AB4-58AFE953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47900"/>
            <a:ext cx="4000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4E4AD-54C3-46B7-83C4-B37E34F9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479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9CD62-4AA2-4E8A-B754-43E11F30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765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模型效果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7B860-7A68-4BD4-97AB-91A734F9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9560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auto_accept precision 偏低，下一步要降低误放行风险。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518E9-37F0-4CD4-B3CB-A9B35A0D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4000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80503-9C00-4500-B415-080B1A2D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F5A67-BE66-4602-9042-F2879859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77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教师研究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C5ABA4-8577-4A4F-950C-9D461C47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两位教师只能做诊断，不能当作完整用户研究。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C7B17-18C0-4447-8ED3-62A6ACAB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29100"/>
            <a:ext cx="4000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F70E1C-553F-4418-8BCE-A9DF3E89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291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B3CB0-91D9-4EA0-8CB8-05423D09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577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隐私与后端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3828B-656B-4CAF-9B1E-2A67EBA3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87680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公开试用前还要补鉴权、权限、数据清理策略。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83CEDC-3E4C-46C1-A2A6-C4E4F05C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29100"/>
            <a:ext cx="4000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EE028C-CBA2-4244-9EE0-0CB2724C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291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47569-F518-43DD-BB89-9E713014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4577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录屏材料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1D9BC0-4940-47BB-95C9-ACEA0A28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76800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还需要正式 2.5 分钟英文演示视频和可公开 video URL。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514D50-866A-4E9E-BA4D-2D3363FA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572250"/>
            <a:ext cx="10668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A32F68-4A96-43FB-8AA3-9FECC495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762750"/>
            <a:ext cx="981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组会建议表达：本周已经把“方向不清”的问题压下去，下一阶段重点补“证据强度”和“设计完成度”。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BD5E97-149C-40FE-BFB7-581B5B88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ConsensusScope｜本周成果汇报｜2026-06-17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97B3B4-A957-402E-A30F-8EFA3089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380033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1C07DA-0A9D-41B0-B323-71C51FBA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400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11 Next Week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02656-86DD-4FF4-9CFB-333F3542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下周计划：把系统推到可投稿/可演示状态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BB4B5-1B33-4198-8AB1-A7917B69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066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建议把任务拆成数据、模型、UI、论文、视频五条并行线。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3C7CE-F05C-41A1-8430-861520A6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B4B99-6BC4-47D9-9FD7-CA373216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14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E3BBC-2BB2-4DD1-A299-57A8B709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1460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扩大标注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E1BD6-4499-4E68-8D4A-5326893D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8575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在现有 30 条基础上继续扩到 50–80 条，并补真实作文来源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D2340-E849-4E84-A4A8-CB6F9956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51300-B870-4AC0-A7DD-A79E1FB8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14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7EB0B-6120-4139-A5E8-4BF7F9BF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1460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优化 AI 评审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8E192-EB4E-42E4-A69E-266A20EB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575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重点减少 auto_accept 误放行，完善 meaning-change / overcorrection 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BA4B8-9821-4A5C-9B68-EB7C9E64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2DBED-A0AA-4BCB-B0FC-89116166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14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1EAAE-90F7-4CF4-A603-1D8C28DA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1460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设计师交付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6C9D6-38FB-4E6D-83C3-2C9D2A4A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把 Figma 方向稿拆为页面、组件、状态、中文/英文文案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3465F-FE98-49A1-815B-9EB1858A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57B59-BE05-4ED3-9B00-C8C782EC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57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9525">
            <a:solidFill>
              <a:srgbClr val="06B6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E3C2F-7A48-4B30-89B5-90FE14D6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5770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后端完善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A8C25D-D887-4594-A44F-925F909F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006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补鉴权、匿名数据导出、教师使用日志与稳定性检查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444069-E6F8-43F1-997F-A699361C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100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00D7E-E6BE-42D1-A24C-B004487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57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F04DFB-335B-4961-8170-41960DB1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5770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论文同步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95701-5917-419F-89F9-571E1D4C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006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更新数据量、系统截图、部署信息和限制声明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360977-DE2E-481B-8007-4134A0A5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3143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BC6738-2C4C-47CD-AF55-86480BD1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57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A4B351-C1AA-40AB-9FAB-1471FB13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5770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录屏投稿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24FC5B-8FC6-4BB6-8212-7F06A435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00600"/>
            <a:ext cx="2019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t>2.5 分钟英文视频：场景、操作、证据、结尾链接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D39BB-B4C2-4C14-8863-DB5A4D00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266950"/>
            <a:ext cx="1809750" cy="32004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3125B-192B-4C5E-98CA-3A68821B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2533650"/>
            <a:ext cx="1390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本周一句话总结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EDA825-9481-48C6-995A-17A0E2C5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048000"/>
            <a:ext cx="13906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t>ConsensusScope 已经从“多模型裁决演示”变成“教师在环的 AI 写作反馈安全审核系统”。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D4015E-FE87-4CBE-89B8-2E7C0BF2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89585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172A"/>
                </a:solidFill>
                <a:latin typeface="PingFang SC"/>
                <a:ea typeface="PingFang SC"/>
                <a:cs typeface="PingFang SC"/>
              </a:defRPr>
            </a:pPr>
            <a:r>
              <a:t>谢谢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F4C391-07EA-402B-A367-79EF607E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962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ConsensusScope｜本周成果汇报｜2026-06-17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052664-1429-446C-9D9E-234ECA0D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03910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734540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2026-06-17T09:25:32.1350000Z</dcterms:created>
  <dcterms:modified xsi:type="dcterms:W3CDTF">2026-06-17T09:25:32.1350000Z</dcterms:modified>
</coreProperties>
</file>